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E1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48C"/>
                </a:solidFill>
                <a:latin typeface="Microsoft YaHei"/>
              </a:rPr>
              <a:t>智能应用系统设计 · 课程设计答辩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3268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LearnPath  智学路径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556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C3CCDD"/>
                </a:solidFill>
                <a:latin typeface="Microsoft YaHei"/>
              </a:rPr>
              <a:t>在线学习的个性化课程推荐实现 —— 从知识图谱到学习路径的多目标优化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A94A6"/>
                </a:solidFill>
                <a:latin typeface="Microsoft YaHei"/>
              </a:rPr>
              <a:t>题目序号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0128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B2333"/>
                </a:solidFill>
                <a:latin typeface="Microsoft YaHei"/>
              </a:rPr>
              <a:t>第 5 题  ★★☆☆☆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039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A94A6"/>
                </a:solidFill>
                <a:latin typeface="Microsoft YaHei"/>
              </a:rPr>
              <a:t>专业班级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380390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＿＿＿＿＿＿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966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A94A6"/>
                </a:solidFill>
                <a:latin typeface="Microsoft YaHei"/>
              </a:rPr>
              <a:t>姓名学号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416966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＿＿＿＿＿＿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354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A94A6"/>
                </a:solidFill>
                <a:latin typeface="Microsoft YaHei"/>
              </a:rPr>
              <a:t>课程教学班号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45354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＿＿＿＿＿＿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A94A6"/>
                </a:solidFill>
                <a:latin typeface="Microsoft YaHei"/>
              </a:rPr>
              <a:t>任课教师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490118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＿＿＿＿＿＿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431536"/>
            <a:ext cx="261061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431536"/>
            <a:ext cx="50292" cy="84124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5955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98017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知识点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5284" y="5431536"/>
            <a:ext cx="261061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15284" y="5431536"/>
            <a:ext cx="50292" cy="84124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6452" y="555955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560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6452" y="598017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课程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431536"/>
            <a:ext cx="261061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5431536"/>
            <a:ext cx="50292" cy="84124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555955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720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98017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学习者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29116" y="5431536"/>
            <a:ext cx="261061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29116" y="5431536"/>
            <a:ext cx="50292" cy="84124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30284" y="555955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14,000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0284" y="598017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学习行为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BFF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汇报提纲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755648"/>
            <a:ext cx="523036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975104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F6B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1993392"/>
            <a:ext cx="3931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B2333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0512" y="23774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A94A6"/>
                </a:solidFill>
                <a:latin typeface="Microsoft YaHei"/>
              </a:rPr>
              <a:t>为什么学习场景不能照搬内容推荐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4" y="1755648"/>
            <a:ext cx="523036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4536" y="1975104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F6BFF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42632" y="1993392"/>
            <a:ext cx="3931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B2333"/>
                </a:solidFill>
                <a:latin typeface="Microsoft YaHei"/>
              </a:rPr>
              <a:t>系统总览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42632" y="23774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A94A6"/>
                </a:solidFill>
                <a:latin typeface="Microsoft YaHei"/>
              </a:rPr>
              <a:t>三层架构与八大能力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36976"/>
            <a:ext cx="523036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45643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F6BFF"/>
                </a:solidFill>
                <a:latin typeface="Microsoft Ya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474720"/>
            <a:ext cx="3931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B2333"/>
                </a:solidFill>
                <a:latin typeface="Microsoft YaHei"/>
              </a:rPr>
              <a:t>核心算法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3858768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A94A6"/>
                </a:solidFill>
                <a:latin typeface="Microsoft YaHei"/>
              </a:rPr>
              <a:t>图谱 / 画像 / 推荐 / 路径 / 多目标 / 预测 / 自适应 / 社交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3236976"/>
            <a:ext cx="523036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74536" y="345643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F6BFF"/>
                </a:solidFill>
                <a:latin typeface="Microsoft YaHe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3474720"/>
            <a:ext cx="3931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B2333"/>
                </a:solidFill>
                <a:latin typeface="Microsoft YaHei"/>
              </a:rPr>
              <a:t>量化结果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858768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A94A6"/>
                </a:solidFill>
                <a:latin typeface="Microsoft YaHei"/>
              </a:rPr>
              <a:t>推荐指标、预测指标、消融实验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718304"/>
            <a:ext cx="523036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3776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F6BFF"/>
                </a:solidFill>
                <a:latin typeface="Microsoft YaHe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0512" y="4956048"/>
            <a:ext cx="3931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B2333"/>
                </a:solidFill>
                <a:latin typeface="Microsoft YaHei"/>
              </a:rPr>
              <a:t>工程实现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10512" y="5340096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A94A6"/>
                </a:solidFill>
                <a:latin typeface="Microsoft YaHei"/>
              </a:rPr>
              <a:t>分层架构、测试、可复现与仓库规范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18304"/>
            <a:ext cx="523036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74536" y="493776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F6BFF"/>
                </a:solidFill>
                <a:latin typeface="Microsoft YaHe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2632" y="4956048"/>
            <a:ext cx="3931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B2333"/>
                </a:solidFill>
                <a:latin typeface="Microsoft YaHei"/>
              </a:rPr>
              <a:t>总结与展望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5340096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A94A6"/>
                </a:solidFill>
                <a:latin typeface="Microsoft YaHei"/>
              </a:rPr>
              <a:t>收获、不足与下一步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BFF"/>
                </a:solidFill>
                <a:latin typeface="Microsoft YaHei"/>
              </a:rPr>
              <a:t>01 ·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平台不缺课，缺的是「该学什么、按什么顺序学」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349300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1700784"/>
            <a:ext cx="50292" cy="117043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883664"/>
            <a:ext cx="3108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F6BFF"/>
                </a:solidFill>
                <a:latin typeface="Microsoft YaHei"/>
              </a:rPr>
              <a:t>该学什么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2860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72"/>
                </a:solidFill>
                <a:latin typeface="Microsoft YaHei"/>
              </a:rPr>
              <a:t>目标岗位还缺哪些知识点？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1700784"/>
            <a:ext cx="349300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17136" y="1700784"/>
            <a:ext cx="50292" cy="1170432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883664"/>
            <a:ext cx="3108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0C48C"/>
                </a:solidFill>
                <a:latin typeface="Microsoft YaHei"/>
              </a:rPr>
              <a:t>按什么顺序学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2860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72"/>
                </a:solidFill>
                <a:latin typeface="Microsoft YaHei"/>
              </a:rPr>
              <a:t>课程之间有先修依赖，顺序错了学不动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700784"/>
            <a:ext cx="349300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47888" y="1700784"/>
            <a:ext cx="50292" cy="1170432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1883664"/>
            <a:ext cx="3108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7A45"/>
                </a:solidFill>
                <a:latin typeface="Microsoft YaHei"/>
              </a:rPr>
              <a:t>学得动吗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5632" y="22860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72"/>
                </a:solidFill>
                <a:latin typeface="Microsoft YaHei"/>
              </a:rPr>
              <a:t>以每周可投入的时间，这条路走得到吗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108960"/>
            <a:ext cx="1088136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3273552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B2333"/>
                </a:solidFill>
                <a:latin typeface="Microsoft YaHei"/>
              </a:rPr>
              <a:t>内容消费 vs 学习：本质差异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5" y="3602736"/>
            <a:ext cx="1042416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23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300">
                <a:solidFill>
                  <a:srgbClr val="1B2333"/>
                </a:solidFill>
                <a:latin typeface="Microsoft YaHei"/>
              </a:rPr>
              <a:t>学习有强先修约束 —— 缺「假设检验」就学不懂「A/B 测试」，点了也学不完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23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300">
                <a:solidFill>
                  <a:srgbClr val="1B2333"/>
                </a:solidFill>
                <a:latin typeface="Microsoft YaHei"/>
              </a:rPr>
              <a:t>目标是序列化的 —— 用户要的不是 10 门有趣的课，而是一条能走通的路径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23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300">
                <a:solidFill>
                  <a:srgbClr val="1B2333"/>
                </a:solidFill>
                <a:latin typeface="Microsoft YaHei"/>
              </a:rPr>
              <a:t>时间成本刚性 —— 每周可投入小时数是硬约束，路径总时长必须匹配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" y="4773168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270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4937760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2F6BFF"/>
                </a:solidFill>
                <a:latin typeface="Microsoft YaHei"/>
              </a:rPr>
              <a:t>本题本质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5248656"/>
            <a:ext cx="10424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333"/>
                </a:solidFill>
                <a:latin typeface="Microsoft YaHei"/>
              </a:rPr>
              <a:t>带先修约束的多目标组合优化问题：在知识图谱约束下，为特定学习者的特定目标，从候选课程集合中选出一个子集并排序，使学习收益、时间成本、难度梯度、风格匹配等多个相互冲突的目标达到平衡。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BFF"/>
                </a:solidFill>
                <a:latin typeface="Microsoft YaHei"/>
              </a:rPr>
              <a:t>01 ·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题目 8 条实现要求 → 系统能力全覆盖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755648"/>
            <a:ext cx="2596896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" y="1920240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9339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56816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B2333"/>
                </a:solidFill>
                <a:latin typeface="Microsoft YaHei"/>
              </a:rPr>
              <a:t>① 学习者建模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22311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多维画像 + BKT 掌握度追踪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84448" y="1755648"/>
            <a:ext cx="2596896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67328" y="1920240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199339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4" y="1956816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B2333"/>
                </a:solidFill>
                <a:latin typeface="Microsoft YaHei"/>
              </a:rPr>
              <a:t>② 课程知识图谱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5616" y="2450592"/>
            <a:ext cx="22311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420 知识点 DAG + 先修闭包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2512" y="1755648"/>
            <a:ext cx="2596896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65392" y="1920240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199339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9168" y="1956816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B2333"/>
                </a:solidFill>
                <a:latin typeface="Microsoft YaHei"/>
              </a:rPr>
              <a:t>③ 学习路径规划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50592"/>
            <a:ext cx="22311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分层贪心覆盖 + 拓扑修复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755648"/>
            <a:ext cx="2596896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63456" y="1920240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3456" y="199339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1956816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B2333"/>
                </a:solidFill>
                <a:latin typeface="Microsoft YaHei"/>
              </a:rPr>
              <a:t>④ 多目标优化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50592"/>
            <a:ext cx="22311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NSGA-II 前沿 + TOPSIS 选解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" y="3054096"/>
            <a:ext cx="2596896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9264" y="3218688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29184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255264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B2333"/>
                </a:solidFill>
                <a:latin typeface="Microsoft YaHei"/>
              </a:rPr>
              <a:t>⑤ 学习效果预测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3749040"/>
            <a:ext cx="22311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完成概率分类 + 效果回归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84448" y="3054096"/>
            <a:ext cx="2596896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67328" y="3218688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67328" y="329184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1104" y="3255264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B2333"/>
                </a:solidFill>
                <a:latin typeface="Microsoft YaHei"/>
              </a:rPr>
              <a:t>⑥ 自适应调整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85616" y="3749040"/>
            <a:ext cx="22311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四类触发 + 自动重规划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82512" y="3054096"/>
            <a:ext cx="2596896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65392" y="3218688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329184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59168" y="3255264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B2333"/>
                </a:solidFill>
                <a:latin typeface="Microsoft YaHei"/>
              </a:rPr>
              <a:t>⑦ 社交学习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3749040"/>
            <a:ext cx="22311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同伴匹配 + 能力互补小组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80576" y="3054096"/>
            <a:ext cx="2596896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63456" y="3218688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63456" y="329184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57232" y="3255264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B2333"/>
                </a:solidFill>
                <a:latin typeface="Microsoft YaHei"/>
              </a:rPr>
              <a:t>⑧ 学习分析仪表板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81744" y="3749040"/>
            <a:ext cx="22311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8 类可视化聚合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6384" y="4443984"/>
            <a:ext cx="10881360" cy="1572768"/>
          </a:xfrm>
          <a:prstGeom prst="roundRect">
            <a:avLst>
              <a:gd name="adj" fmla="val 6000"/>
            </a:avLst>
          </a:prstGeom>
          <a:solidFill>
            <a:srgbClr val="ECFBF5"/>
          </a:solidFill>
          <a:ln w="12700">
            <a:solidFill>
              <a:srgbClr val="00C4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2415" y="4608576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08C66"/>
                </a:solidFill>
                <a:latin typeface="Microsoft YaHei"/>
              </a:rPr>
              <a:t>额外完成的工程能力（超出题目最低要求）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5" y="4937760"/>
            <a:ext cx="512064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39" b="1">
                <a:solidFill>
                  <a:srgbClr val="00C48C"/>
                </a:solidFill>
                <a:latin typeface="Microsoft YaHei"/>
              </a:rPr>
              <a:t>▪  </a:t>
            </a:r>
            <a:r>
              <a:rPr sz="1200">
                <a:solidFill>
                  <a:srgbClr val="1B2333"/>
                </a:solidFill>
                <a:latin typeface="Microsoft YaHei"/>
              </a:rPr>
              <a:t>协同过滤（SVD 隐语义分解）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39" b="1">
                <a:solidFill>
                  <a:srgbClr val="00C48C"/>
                </a:solidFill>
                <a:latin typeface="Microsoft YaHei"/>
              </a:rPr>
              <a:t>▪  </a:t>
            </a:r>
            <a:r>
              <a:rPr sz="1200">
                <a:solidFill>
                  <a:srgbClr val="1B2333"/>
                </a:solidFill>
                <a:latin typeface="Microsoft YaHei"/>
              </a:rPr>
              <a:t>可解释推荐（每条给出具体中文理由）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72784" y="4937760"/>
            <a:ext cx="512064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39" b="1">
                <a:solidFill>
                  <a:srgbClr val="00C48C"/>
                </a:solidFill>
                <a:latin typeface="Microsoft YaHei"/>
              </a:rPr>
              <a:t>▪  </a:t>
            </a:r>
            <a:r>
              <a:rPr sz="1200">
                <a:solidFill>
                  <a:srgbClr val="1B2333"/>
                </a:solidFill>
                <a:latin typeface="Microsoft YaHei"/>
              </a:rPr>
              <a:t>离线评测体系（4 策略对比 + 消融实验）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39" b="1">
                <a:solidFill>
                  <a:srgbClr val="00C48C"/>
                </a:solidFill>
                <a:latin typeface="Microsoft YaHei"/>
              </a:rPr>
              <a:t>▪  </a:t>
            </a:r>
            <a:r>
              <a:rPr sz="1200">
                <a:solidFill>
                  <a:srgbClr val="1B2333"/>
                </a:solidFill>
                <a:latin typeface="Microsoft YaHei"/>
              </a:rPr>
              <a:t>整套 REST 接口 + 6 视图单页应用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BFF"/>
                </a:solidFill>
                <a:latin typeface="Microsoft YaHei"/>
              </a:rPr>
              <a:t>02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三层架构：引擎层不依赖 Web，表现层不含算法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591056"/>
            <a:ext cx="6949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589" y="1682496"/>
            <a:ext cx="6437030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73568" y="1700784"/>
            <a:ext cx="365760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引擎层 learnpath/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数据契约 / 图谱 / 画像 / 推荐 / 规划 / 预测 / 自适应 / 社交 / 分析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服务层 app/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单例容器：懒加载 + 线程锁 + 缺失模块降级为 503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表现层 web/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原生 ES Module + 本地 ECharts，零构建、可离线演示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可测试性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算法可脱离 HTTP 直接用 pytest 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BFF"/>
                </a:solidFill>
                <a:latin typeface="Microsoft YaHei"/>
              </a:rPr>
              <a:t>02 · DATA &amp;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420 个知识点的先修 DAG，是「学得动」的约束来源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72768"/>
            <a:ext cx="50292" cy="9326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700784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420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121408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知识点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5284" y="1572768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5284" y="1572768"/>
            <a:ext cx="50292" cy="9326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6452" y="1700784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483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6452" y="2121408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先修边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572768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572768"/>
            <a:ext cx="50292" cy="9326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700784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121408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最大深度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9116" y="1572768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9116" y="1572768"/>
            <a:ext cx="50292" cy="9326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0284" y="1700784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49.0%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0284" y="2121408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交互完成率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2670048"/>
            <a:ext cx="54864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ig_datase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3138573"/>
            <a:ext cx="5303520" cy="1897589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419088" y="2670048"/>
            <a:ext cx="5248656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ig_graph_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3091288"/>
            <a:ext cx="5065776" cy="199215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BFF"/>
                </a:solidFill>
                <a:latin typeface="Microsoft YaHei"/>
              </a:rPr>
              <a:t>03 · LEARNER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学习者建模：多维画像 + 贝叶斯知识追踪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645920"/>
            <a:ext cx="5486400" cy="3877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5" y="181051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B2333"/>
                </a:solidFill>
                <a:latin typeface="Microsoft YaHei"/>
              </a:rPr>
              <a:t>画像五个维度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157984"/>
            <a:ext cx="502920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知识水平 —— 每个知识点的掌握度 m ∈ [0,1]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学习偏好 —— 理论/实践倾向、承载模态、单次专注时长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时间安排 —— 每周可投入小时数、可学习天数、截止周数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能力系数 —— 学习速度，调制 BKT 的学习率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兴趣领域 —— 用于社交匹配与多样性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2415" y="4261104"/>
            <a:ext cx="5029200" cy="1078992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43891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2F6BFF"/>
                </a:solidFill>
                <a:latin typeface="Microsoft YaHei"/>
              </a:rPr>
              <a:t>掌握度更新（BKT 后验 + 学习转移）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" y="4718304"/>
            <a:ext cx="4754880" cy="51206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1B2333"/>
                </a:solidFill>
                <a:latin typeface="Microsoft YaHei"/>
              </a:rPr>
              <a:t>m′ = posterior + (1 − posterior) · p_learn · a · 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0528" y="1645920"/>
            <a:ext cx="5157216" cy="3877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810512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B2333"/>
                </a:solidFill>
                <a:latin typeface="Microsoft YaHei"/>
              </a:rPr>
              <a:t>四个决策量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128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2F6BFF"/>
                </a:solidFill>
                <a:latin typeface="Microsoft YaHei"/>
              </a:rPr>
              <a:t>先修就绪度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24688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课程先修知识点的加权掌握度 → sigmoid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303580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C48C"/>
                </a:solidFill>
                <a:latin typeface="Microsoft YaHei"/>
              </a:rPr>
              <a:t>风格匹配度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4848" y="3291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理论倾向差 + 模态是否一致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38587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7A45"/>
                </a:solidFill>
                <a:latin typeface="Microsoft YaHei"/>
              </a:rPr>
              <a:t>时间可承受度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4848" y="41148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课程时长 vs 每周预算与专注时长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4848" y="468172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7C5CFF"/>
                </a:solidFill>
                <a:latin typeface="Microsoft YaHei"/>
              </a:rPr>
              <a:t>预期增益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49377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缺口 × 覆盖权重 × 就绪折扣 × 能力调制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C48C"/>
                </a:solidFill>
                <a:latin typeface="Microsoft YaHei"/>
              </a:rPr>
              <a:t>03 · RECOMMENDER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混合推荐：三路召回 + 加权融合 + MMR 去冗余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645920"/>
            <a:ext cx="5760720" cy="2212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5" y="1810512"/>
            <a:ext cx="5303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B2333"/>
                </a:solidFill>
                <a:latin typeface="Microsoft YaHei"/>
              </a:rPr>
              <a:t>五路信号与权重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176272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内容（图谱缺口覆盖）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2240280"/>
            <a:ext cx="1828800" cy="109728"/>
          </a:xfrm>
          <a:prstGeom prst="roundRect">
            <a:avLst/>
          </a:prstGeom>
          <a:solidFill>
            <a:srgbClr val="EA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22191" y="2240280"/>
            <a:ext cx="1828800" cy="109728"/>
          </a:xfrm>
          <a:prstGeom prst="round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2176272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8A94A6"/>
                </a:solidFill>
                <a:latin typeface="Microsoft YaHei"/>
              </a:rPr>
              <a:t>0.40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250545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协同（SVD 隐语义）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22191" y="2569464"/>
            <a:ext cx="1828800" cy="109728"/>
          </a:xfrm>
          <a:prstGeom prst="roundRect">
            <a:avLst/>
          </a:prstGeom>
          <a:solidFill>
            <a:srgbClr val="EA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22191" y="2569464"/>
            <a:ext cx="1143000" cy="109728"/>
          </a:xfrm>
          <a:prstGeom prst="round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2505456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8A94A6"/>
                </a:solidFill>
                <a:latin typeface="Microsoft YaHei"/>
              </a:rPr>
              <a:t>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2834639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质量（评分×报名量）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2191" y="2898647"/>
            <a:ext cx="1828800" cy="109728"/>
          </a:xfrm>
          <a:prstGeom prst="roundRect">
            <a:avLst/>
          </a:prstGeom>
          <a:solidFill>
            <a:srgbClr val="EA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22191" y="2898647"/>
            <a:ext cx="685800" cy="109728"/>
          </a:xfrm>
          <a:prstGeom prst="round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834639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8A94A6"/>
                </a:solidFill>
                <a:latin typeface="Microsoft YaHei"/>
              </a:rPr>
              <a:t>0.15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5" y="3163824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先修就绪度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22191" y="3227832"/>
            <a:ext cx="1828800" cy="109728"/>
          </a:xfrm>
          <a:prstGeom prst="roundRect">
            <a:avLst/>
          </a:prstGeom>
          <a:solidFill>
            <a:srgbClr val="EA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22191" y="3227832"/>
            <a:ext cx="548640" cy="109728"/>
          </a:xfrm>
          <a:prstGeom prst="round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42432" y="3163824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8A94A6"/>
                </a:solidFill>
                <a:latin typeface="Microsoft YaHei"/>
              </a:rPr>
              <a:t>0.12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5" y="3493008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社交（同伴完成率）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2191" y="3557016"/>
            <a:ext cx="1828800" cy="109728"/>
          </a:xfrm>
          <a:prstGeom prst="roundRect">
            <a:avLst/>
          </a:prstGeom>
          <a:solidFill>
            <a:srgbClr val="EA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2191" y="3557016"/>
            <a:ext cx="365760" cy="109728"/>
          </a:xfrm>
          <a:prstGeom prst="round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42432" y="349300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8A94A6"/>
                </a:solidFill>
                <a:latin typeface="Microsoft YaHei"/>
              </a:rPr>
              <a:t>0.08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" y="3986784"/>
            <a:ext cx="5760720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4133087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MMR 多样性重排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5" y="4443984"/>
            <a:ext cx="5303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2F6BFF"/>
                </a:solidFill>
                <a:latin typeface="Microsoft YaHei"/>
              </a:rPr>
              <a:t>c* = argmax [ λ·score(c) − (1−λ)·max sim(c, c′) ]，λ = 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5" y="4882896"/>
            <a:ext cx="5303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避免「10 门都是 Python 入门课」；消融实验显示移除 MMR 后 NDCG 也会下降。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11696" y="1645920"/>
            <a:ext cx="4956048" cy="3877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hot_recomm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564" y="1737360"/>
            <a:ext cx="3722311" cy="345643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711696" y="5248656"/>
            <a:ext cx="4956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真实推荐结果：分项得分 + 具体中文理由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7A45"/>
                </a:solidFill>
                <a:latin typeface="Microsoft YaHei"/>
              </a:rPr>
              <a:t>03 · PATH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路径规划：先修闭包 → 缺口识别 → 贪心覆盖 → 拓扑修复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645920"/>
            <a:ext cx="34930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288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45"/>
                </a:solidFill>
                <a:latin typeface="Microsoft YaHei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79222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先修闭包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2103120"/>
            <a:ext cx="2651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Pre(目标知识点)，得到「要学目标先得补什么」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1645920"/>
            <a:ext cx="34930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18304" y="18288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45"/>
                </a:solidFill>
                <a:latin typeface="Microsoft YaHe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5504" y="179222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缺口识别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5504" y="2103120"/>
            <a:ext cx="2651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掌握度 &lt; 0.60 的知识点构成待补集合 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645920"/>
            <a:ext cx="34930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49056" y="18288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45"/>
                </a:solidFill>
                <a:latin typeface="Microsoft YaHei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6256" y="179222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候选召回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6256" y="2103120"/>
            <a:ext cx="2651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覆盖 G、先修就绪、时长可承受的课程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2706624"/>
            <a:ext cx="34930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288950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45"/>
                </a:solidFill>
                <a:latin typeface="Microsoft YaHei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28529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分层覆盖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3163824"/>
            <a:ext cx="2651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按拓扑层级自底向上，取「边际收益/时长」最大者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17136" y="2706624"/>
            <a:ext cx="34930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8304" y="288950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45"/>
                </a:solidFill>
                <a:latin typeface="Microsoft YaHei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5504" y="28529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拓扑修复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5504" y="3163824"/>
            <a:ext cx="2651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先修课必须排在后继课之前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47888" y="2706624"/>
            <a:ext cx="34930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88950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45"/>
                </a:solidFill>
                <a:latin typeface="Microsoft YaHei"/>
              </a:rPr>
              <a:t>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6256" y="28529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周次装箱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6256" y="3163824"/>
            <a:ext cx="2651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A6472"/>
                </a:solidFill>
                <a:latin typeface="Microsoft YaHei"/>
              </a:rPr>
              <a:t>按每周预算分配周次并生成里程碑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" y="3913632"/>
            <a:ext cx="67665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hot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873" y="4005072"/>
            <a:ext cx="1575581" cy="146304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772400" y="3913632"/>
            <a:ext cx="3895344" cy="1645920"/>
          </a:xfrm>
          <a:prstGeom prst="roundRect">
            <a:avLst>
              <a:gd name="adj" fmla="val 6000"/>
            </a:avLst>
          </a:prstGeom>
          <a:solidFill>
            <a:srgbClr val="FFF6F0"/>
          </a:solidFill>
          <a:ln w="12700">
            <a:solidFill>
              <a:srgbClr val="FF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6" y="405993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7A45"/>
                </a:solidFill>
                <a:latin typeface="Microsoft YaHei"/>
              </a:rPr>
              <a:t>为什么不能只排序分数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4370832"/>
            <a:ext cx="3474720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推荐只需每门课单独合理；路径要求整体自洽 —— 难度平缓上升、先修不缺失、总时长匹配预算。这是本题与普通推荐的分水岭。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7C5CFF"/>
                </a:solidFill>
                <a:latin typeface="Microsoft YaHei"/>
              </a:rPr>
              <a:t>03 · MULTI-OBJECTIVE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多目标优化：先求前沿，再按偏好选点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627632"/>
            <a:ext cx="585216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272" y="1719072"/>
            <a:ext cx="4850384" cy="2834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76288" y="1627632"/>
            <a:ext cx="4791456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4032" y="1773936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四个冲突目标</a:t>
            </a:r>
          </a:p>
        </p:txBody>
      </p:sp>
      <p:sp>
        <p:nvSpPr>
          <p:cNvPr id="10" name="Oval 9"/>
          <p:cNvSpPr/>
          <p:nvPr/>
        </p:nvSpPr>
        <p:spPr>
          <a:xfrm>
            <a:off x="7132320" y="2221992"/>
            <a:ext cx="91440" cy="91440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51775" y="213969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B2333"/>
                </a:solidFill>
                <a:latin typeface="Microsoft YaHei"/>
              </a:rPr>
              <a:t>学习收益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13969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2F6BFF"/>
                </a:solidFill>
                <a:latin typeface="Microsoft YaHei"/>
              </a:rPr>
              <a:t>最大化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0" y="2624328"/>
            <a:ext cx="91440" cy="91440"/>
          </a:xfrm>
          <a:prstGeom prst="ellipse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1775" y="25420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B2333"/>
                </a:solidFill>
                <a:latin typeface="Microsoft YaHei"/>
              </a:rPr>
              <a:t>时间成本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542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0C48C"/>
                </a:solidFill>
                <a:latin typeface="Microsoft YaHei"/>
              </a:rPr>
              <a:t>最小化</a:t>
            </a:r>
          </a:p>
        </p:txBody>
      </p:sp>
      <p:sp>
        <p:nvSpPr>
          <p:cNvPr id="16" name="Oval 15"/>
          <p:cNvSpPr/>
          <p:nvPr/>
        </p:nvSpPr>
        <p:spPr>
          <a:xfrm>
            <a:off x="7132320" y="3026664"/>
            <a:ext cx="91440" cy="91440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51775" y="29443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B2333"/>
                </a:solidFill>
                <a:latin typeface="Microsoft YaHei"/>
              </a:rPr>
              <a:t>难度平滑度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9443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FF7A45"/>
                </a:solidFill>
                <a:latin typeface="Microsoft YaHei"/>
              </a:rPr>
              <a:t>最大化</a:t>
            </a:r>
          </a:p>
        </p:txBody>
      </p:sp>
      <p:sp>
        <p:nvSpPr>
          <p:cNvPr id="19" name="Oval 18"/>
          <p:cNvSpPr/>
          <p:nvPr/>
        </p:nvSpPr>
        <p:spPr>
          <a:xfrm>
            <a:off x="7132320" y="3429000"/>
            <a:ext cx="91440" cy="9144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1775" y="334670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B2333"/>
                </a:solidFill>
                <a:latin typeface="Microsoft YaHei"/>
              </a:rPr>
              <a:t>风格匹配度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334670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7C5CFF"/>
                </a:solidFill>
                <a:latin typeface="Microsoft YaHei"/>
              </a:rPr>
              <a:t>最大化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3785615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NSGA-II 求 4 维帕累托前沿 → TOPSIS（极差归一化 + 加权贴近度）选妥协解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" y="4791456"/>
            <a:ext cx="10881360" cy="1243584"/>
          </a:xfrm>
          <a:prstGeom prst="roundRect">
            <a:avLst>
              <a:gd name="adj" fmla="val 6000"/>
            </a:avLst>
          </a:prstGeom>
          <a:solidFill>
            <a:srgbClr val="FFF3EE"/>
          </a:solidFill>
          <a:ln w="12700">
            <a:solidFill>
              <a:srgbClr val="FF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493776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7A45"/>
                </a:solidFill>
                <a:latin typeface="Microsoft YaHei"/>
              </a:rPr>
              <a:t>过程中发现并修复的一个真实缺陷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5" y="5230368"/>
            <a:ext cx="104241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测试发现三种预设产出同一条路径。根因是 TOPSIS 用了向量归一化 x/‖x‖：本问题中 gain 跨一个数量级而 time 只差 1.5 倍，范数被大值主导，权重语义被吃掉。改用 Hwang &amp; Yoon 的极差变换 (x−min)/(max−min) 后，三个预设恢复正常区分。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C48C"/>
                </a:solidFill>
                <a:latin typeface="Microsoft YaHei"/>
              </a:rPr>
              <a:t>03 ·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学习效果预测：完成概率 + 掌握度增益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91056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1056"/>
            <a:ext cx="50292" cy="93268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71907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0.807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13969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AUC · 逻辑回归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5284" y="1591056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5284" y="1591056"/>
            <a:ext cx="50292" cy="93268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6452" y="171907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0.882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6452" y="213969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AUC · 梯度提升树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591056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591056"/>
            <a:ext cx="50292" cy="93268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71907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0.643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13969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R² · 岭回归 Ridge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9116" y="1591056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9116" y="1591056"/>
            <a:ext cx="50292" cy="93268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0284" y="171907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0.621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0284" y="213969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R² · 梯度提升树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2688336"/>
            <a:ext cx="576072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ig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3107786"/>
            <a:ext cx="5577840" cy="199574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66560" y="2688336"/>
            <a:ext cx="4901184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4304" y="283464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两个关键设计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3163824"/>
            <a:ext cx="448056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092" b="1">
                <a:solidFill>
                  <a:srgbClr val="00C48C"/>
                </a:solidFill>
                <a:latin typeface="Microsoft YaHei"/>
              </a:rPr>
              <a:t>▪  </a:t>
            </a:r>
            <a:r>
              <a:rPr sz="1150">
                <a:solidFill>
                  <a:srgbClr val="1B2333"/>
                </a:solidFill>
                <a:latin typeface="Microsoft YaHei"/>
              </a:rPr>
              <a:t>无标签泄漏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827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011">
                <a:solidFill>
                  <a:srgbClr val="5A6472"/>
                </a:solidFill>
                <a:latin typeface="Microsoft YaHei"/>
              </a:rPr>
              <a:t>特征在「学习者尚未学过该课程」的时刻计算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092" b="1">
                <a:solidFill>
                  <a:srgbClr val="00C48C"/>
                </a:solidFill>
                <a:latin typeface="Microsoft YaHei"/>
              </a:rPr>
              <a:t>▪  </a:t>
            </a:r>
            <a:r>
              <a:rPr sz="1150">
                <a:solidFill>
                  <a:srgbClr val="1B2333"/>
                </a:solidFill>
                <a:latin typeface="Microsoft YaHei"/>
              </a:rPr>
              <a:t>只用线上可观测信号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827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011">
                <a:solidFill>
                  <a:srgbClr val="5A6472"/>
                </a:solidFill>
                <a:latin typeface="Microsoft YaHei"/>
              </a:rPr>
              <a:t>刻意不使用生成期隐变量，保证模型可部署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092" b="1">
                <a:solidFill>
                  <a:srgbClr val="00C48C"/>
                </a:solidFill>
                <a:latin typeface="Microsoft YaHei"/>
              </a:rPr>
              <a:t>▪  </a:t>
            </a:r>
            <a:r>
              <a:rPr sz="1150">
                <a:solidFill>
                  <a:srgbClr val="1B2333"/>
                </a:solidFill>
                <a:latin typeface="Microsoft YaHei"/>
              </a:rPr>
              <a:t>可解释归因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827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011">
                <a:solidFill>
                  <a:srgbClr val="5A6472"/>
                </a:solidFill>
                <a:latin typeface="Microsoft YaHei"/>
              </a:rPr>
              <a:t>特征重要性 Top-5 直接进入推荐理由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092" b="1">
                <a:solidFill>
                  <a:srgbClr val="00C48C"/>
                </a:solidFill>
                <a:latin typeface="Microsoft YaHei"/>
              </a:rPr>
              <a:t>▪  </a:t>
            </a:r>
            <a:r>
              <a:rPr sz="1150">
                <a:solidFill>
                  <a:srgbClr val="1B2333"/>
                </a:solidFill>
                <a:latin typeface="Microsoft YaHei"/>
              </a:rPr>
              <a:t>风险分级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827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011">
                <a:solidFill>
                  <a:srgbClr val="5A6472"/>
                </a:solidFill>
                <a:latin typeface="Microsoft YaHei"/>
              </a:rPr>
              <a:t>完成概率 → 低/中/高，指导学习者预期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7A45"/>
                </a:solidFill>
                <a:latin typeface="Microsoft YaHei"/>
              </a:rPr>
              <a:t>03 · ADAPTIVE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自适应调整：四类触发 + 自动重规划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682496"/>
            <a:ext cx="1088136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883664"/>
            <a:ext cx="2468880" cy="402336"/>
          </a:xfrm>
          <a:prstGeom prst="round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测验分 &lt; 0.60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2463" y="1956816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B2333"/>
                </a:solidFill>
                <a:latin typeface="Microsoft YaHei"/>
              </a:rPr>
              <a:t>判定未掌握，插入同知识点更基础的补强课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651760"/>
            <a:ext cx="1088136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852928"/>
            <a:ext cx="2468880" cy="402336"/>
          </a:xfrm>
          <a:prstGeom prst="round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935224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测验分 &gt; 0.90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3" y="2926080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B2333"/>
                </a:solidFill>
                <a:latin typeface="Microsoft YaHei"/>
              </a:rPr>
              <a:t>跳过路径中覆盖同一知识点的后续课程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621024"/>
            <a:ext cx="1088136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822192"/>
            <a:ext cx="2468880" cy="402336"/>
          </a:xfrm>
          <a:prstGeom prst="round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904488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实际/计划进度 &lt; 0.70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2463" y="389534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B2333"/>
                </a:solidFill>
                <a:latin typeface="Microsoft YaHei"/>
              </a:rPr>
              <a:t>收敛路径：消减低收益课程，切「速通」预设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4590288"/>
            <a:ext cx="1088136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791456"/>
            <a:ext cx="2468880" cy="402336"/>
          </a:xfrm>
          <a:prstGeom prst="round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87375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实际/计划进度 &gt; 1.30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2463" y="4864608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B2333"/>
                </a:solidFill>
                <a:latin typeface="Microsoft YaHei"/>
              </a:rPr>
              <a:t>追加进阶课程，切「夯实」预设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5504688"/>
            <a:ext cx="10881360" cy="603504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632704"/>
            <a:ext cx="10424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72"/>
                </a:solidFill>
                <a:latin typeface="Microsoft YaHei"/>
              </a:rPr>
              <a:t>触发后：BKT 更新掌握度 → 重新规划路径 → 返回掌握度增量、动作说明、新画像与新路径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7C5CFF"/>
                </a:solidFill>
                <a:latin typeface="Microsoft YaHei"/>
              </a:rPr>
              <a:t>03 · SOCIAL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社交学习：同伴匹配 + 能力互补小组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645920"/>
            <a:ext cx="4572000" cy="3877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5" y="1810512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B2333"/>
                </a:solidFill>
                <a:latin typeface="Microsoft YaHei"/>
              </a:rPr>
              <a:t>复合相似度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157984"/>
            <a:ext cx="4114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7C5CFF"/>
                </a:solidFill>
                <a:latin typeface="Microsoft YaHei"/>
              </a:rPr>
              <a:t>sim = α·cos(掌握度向量) + β·同目标 + γ·Jaccard(兴趣)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2761488"/>
            <a:ext cx="41148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092" b="1">
                <a:solidFill>
                  <a:srgbClr val="7C5CFF"/>
                </a:solidFill>
                <a:latin typeface="Microsoft YaHei"/>
              </a:rPr>
              <a:t>▪  </a:t>
            </a:r>
            <a:r>
              <a:rPr sz="1150">
                <a:solidFill>
                  <a:srgbClr val="1B2333"/>
                </a:solidFill>
                <a:latin typeface="Microsoft YaHei"/>
              </a:rPr>
              <a:t>同伴推荐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827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011">
                <a:solidFill>
                  <a:srgbClr val="5A6472"/>
                </a:solidFill>
                <a:latin typeface="Microsoft YaHei"/>
              </a:rPr>
              <a:t>相似度 + 共同目标知识点 + 共同课程 + 对方更擅长的知识点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092" b="1">
                <a:solidFill>
                  <a:srgbClr val="7C5CFF"/>
                </a:solidFill>
                <a:latin typeface="Microsoft YaHei"/>
              </a:rPr>
              <a:t>▪  </a:t>
            </a:r>
            <a:r>
              <a:rPr sz="1150">
                <a:solidFill>
                  <a:srgbClr val="1B2333"/>
                </a:solidFill>
                <a:latin typeface="Microsoft YaHei"/>
              </a:rPr>
              <a:t>学习小组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827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011">
                <a:solidFill>
                  <a:srgbClr val="5A6472"/>
                </a:solidFill>
                <a:latin typeface="Microsoft YaHei"/>
              </a:rPr>
              <a:t>按「能力互补」组建：同一知识点上有人已掌握、有人未掌握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092" b="1">
                <a:solidFill>
                  <a:srgbClr val="7C5CFF"/>
                </a:solidFill>
                <a:latin typeface="Microsoft YaHei"/>
              </a:rPr>
              <a:t>▪  </a:t>
            </a:r>
            <a:r>
              <a:rPr sz="1150">
                <a:solidFill>
                  <a:srgbClr val="1B2333"/>
                </a:solidFill>
                <a:latin typeface="Microsoft YaHei"/>
              </a:rPr>
              <a:t>反哺推荐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827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011">
                <a:solidFill>
                  <a:srgbClr val="5A6472"/>
                </a:solidFill>
                <a:latin typeface="Microsoft YaHei"/>
              </a:rPr>
              <a:t>群体的课程完成率作为混合推荐的第五路信号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645920"/>
            <a:ext cx="6089904" cy="3877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ot_so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636" y="1737360"/>
            <a:ext cx="3722311" cy="3456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77840" y="5248656"/>
            <a:ext cx="60899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同伴与学习小组推荐界面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BFF"/>
                </a:solidFill>
                <a:latin typeface="Microsoft YaHei"/>
              </a:rPr>
              <a:t>03 ·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学习分析仪表板：8 类可视化聚合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609344"/>
            <a:ext cx="7406640" cy="3968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1295" y="1700784"/>
            <a:ext cx="4076817" cy="378561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57616" y="1609344"/>
            <a:ext cx="3310128" cy="3968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7072" y="177393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2333"/>
                </a:solidFill>
                <a:latin typeface="Microsoft YaHei"/>
              </a:rPr>
              <a:t>8 类聚合数据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7072" y="2103120"/>
            <a:ext cx="29260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4000"/>
              </a:lnSpc>
              <a:spcAft>
                <a:spcPts val="288"/>
              </a:spcAft>
            </a:pPr>
            <a:r>
              <a:rPr sz="104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100">
                <a:solidFill>
                  <a:srgbClr val="1B2333"/>
                </a:solidFill>
                <a:latin typeface="Microsoft YaHei"/>
              </a:rPr>
              <a:t>KPI 卡片（6 项）</a:t>
            </a:r>
          </a:p>
          <a:p>
            <a:pPr>
              <a:lnSpc>
                <a:spcPct val="134000"/>
              </a:lnSpc>
              <a:spcAft>
                <a:spcPts val="288"/>
              </a:spcAft>
            </a:pPr>
            <a:r>
              <a:rPr sz="104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100">
                <a:solidFill>
                  <a:srgbClr val="1B2333"/>
                </a:solidFill>
                <a:latin typeface="Microsoft YaHei"/>
              </a:rPr>
              <a:t>掌握度演化曲线</a:t>
            </a:r>
          </a:p>
          <a:p>
            <a:pPr>
              <a:lnSpc>
                <a:spcPct val="134000"/>
              </a:lnSpc>
              <a:spcAft>
                <a:spcPts val="288"/>
              </a:spcAft>
            </a:pPr>
            <a:r>
              <a:rPr sz="104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100">
                <a:solidFill>
                  <a:srgbClr val="1B2333"/>
                </a:solidFill>
                <a:latin typeface="Microsoft YaHei"/>
              </a:rPr>
              <a:t>领域掌握度雷达</a:t>
            </a:r>
          </a:p>
          <a:p>
            <a:pPr>
              <a:lnSpc>
                <a:spcPct val="134000"/>
              </a:lnSpc>
              <a:spcAft>
                <a:spcPts val="288"/>
              </a:spcAft>
            </a:pPr>
            <a:r>
              <a:rPr sz="104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100">
                <a:solidFill>
                  <a:srgbClr val="1B2333"/>
                </a:solidFill>
                <a:latin typeface="Microsoft YaHei"/>
              </a:rPr>
              <a:t>课程难度分布</a:t>
            </a:r>
          </a:p>
          <a:p>
            <a:pPr>
              <a:lnSpc>
                <a:spcPct val="134000"/>
              </a:lnSpc>
              <a:spcAft>
                <a:spcPts val="288"/>
              </a:spcAft>
            </a:pPr>
            <a:r>
              <a:rPr sz="104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100">
                <a:solidFill>
                  <a:srgbClr val="1B2333"/>
                </a:solidFill>
                <a:latin typeface="Microsoft YaHei"/>
              </a:rPr>
              <a:t>承载模态构成</a:t>
            </a:r>
          </a:p>
          <a:p>
            <a:pPr>
              <a:lnSpc>
                <a:spcPct val="134000"/>
              </a:lnSpc>
              <a:spcAft>
                <a:spcPts val="288"/>
              </a:spcAft>
            </a:pPr>
            <a:r>
              <a:rPr sz="104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100">
                <a:solidFill>
                  <a:srgbClr val="1B2333"/>
                </a:solidFill>
                <a:latin typeface="Microsoft YaHei"/>
              </a:rPr>
              <a:t>每周时间分配</a:t>
            </a:r>
          </a:p>
          <a:p>
            <a:pPr>
              <a:lnSpc>
                <a:spcPct val="134000"/>
              </a:lnSpc>
              <a:spcAft>
                <a:spcPts val="288"/>
              </a:spcAft>
            </a:pPr>
            <a:r>
              <a:rPr sz="104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100">
                <a:solidFill>
                  <a:srgbClr val="1B2333"/>
                </a:solidFill>
                <a:latin typeface="Microsoft YaHei"/>
              </a:rPr>
              <a:t>完成概率预测表</a:t>
            </a:r>
          </a:p>
          <a:p>
            <a:pPr>
              <a:lnSpc>
                <a:spcPct val="134000"/>
              </a:lnSpc>
              <a:spcAft>
                <a:spcPts val="288"/>
              </a:spcAft>
            </a:pPr>
            <a:r>
              <a:rPr sz="1045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100">
                <a:solidFill>
                  <a:srgbClr val="1B2333"/>
                </a:solidFill>
                <a:latin typeface="Microsoft YaHei"/>
              </a:rPr>
              <a:t>知识缺口明细表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C48C"/>
                </a:solidFill>
                <a:latin typeface="Microsoft YaHei"/>
              </a:rPr>
              <a:t>04 ·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离线评测：混合推荐显著优于热度基线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86384" y="1627632"/>
          <a:ext cx="10881357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4037"/>
                <a:gridCol w="1637018"/>
                <a:gridCol w="1540723"/>
                <a:gridCol w="1540723"/>
                <a:gridCol w="1444428"/>
                <a:gridCol w="1444428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策略</a:t>
                      </a:r>
                    </a:p>
                  </a:txBody>
                  <a:tcPr anchor="ctr">
                    <a:solidFill>
                      <a:srgbClr val="2F6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Precision@10</a:t>
                      </a:r>
                    </a:p>
                  </a:txBody>
                  <a:tcPr anchor="ctr">
                    <a:solidFill>
                      <a:srgbClr val="2F6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2F6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NDCG@10</a:t>
                      </a:r>
                    </a:p>
                  </a:txBody>
                  <a:tcPr anchor="ctr">
                    <a:solidFill>
                      <a:srgbClr val="2F6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Coverage</a:t>
                      </a:r>
                    </a:p>
                  </a:txBody>
                  <a:tcPr anchor="ctr">
                    <a:solidFill>
                      <a:srgbClr val="2F6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Diversity</a:t>
                      </a:r>
                    </a:p>
                  </a:txBody>
                  <a:tcPr anchor="ctr">
                    <a:solidFill>
                      <a:srgbClr val="2F6B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Popularity 基线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0.0132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0.0622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0.0328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0.029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0.905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Content 内容推荐</a:t>
                      </a:r>
                    </a:p>
                  </a:txBody>
                  <a:tcPr anchor="ctr" marL="54864" marR="54864">
                    <a:solidFill>
                      <a:srgbClr val="F6F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0.0302</a:t>
                      </a:r>
                    </a:p>
                  </a:txBody>
                  <a:tcPr anchor="ctr" marL="54864" marR="54864">
                    <a:solidFill>
                      <a:srgbClr val="F6F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0.1495</a:t>
                      </a:r>
                    </a:p>
                  </a:txBody>
                  <a:tcPr anchor="ctr" marL="54864" marR="54864">
                    <a:solidFill>
                      <a:srgbClr val="F6F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0.0902</a:t>
                      </a:r>
                    </a:p>
                  </a:txBody>
                  <a:tcPr anchor="ctr" marL="54864" marR="54864">
                    <a:solidFill>
                      <a:srgbClr val="F6F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0.282</a:t>
                      </a:r>
                    </a:p>
                  </a:txBody>
                  <a:tcPr anchor="ctr" marL="54864" marR="54864">
                    <a:solidFill>
                      <a:srgbClr val="F6F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0.891</a:t>
                      </a:r>
                    </a:p>
                  </a:txBody>
                  <a:tcPr anchor="ctr" marL="54864" marR="54864">
                    <a:solidFill>
                      <a:srgbClr val="F6F8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CF-SVD 协同过滤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0.0167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0.0847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0.0511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0.468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333"/>
                          </a:solidFill>
                          <a:latin typeface="Microsoft YaHei"/>
                        </a:rPr>
                        <a:t>0.977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333"/>
                          </a:solidFill>
                          <a:latin typeface="Microsoft YaHei"/>
                        </a:rPr>
                        <a:t>Hybrid 混合推荐（本系统）</a:t>
                      </a:r>
                    </a:p>
                  </a:txBody>
                  <a:tcPr anchor="ctr" marL="54864" marR="54864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333"/>
                          </a:solidFill>
                          <a:latin typeface="Microsoft YaHei"/>
                        </a:rPr>
                        <a:t>0.0374</a:t>
                      </a:r>
                    </a:p>
                  </a:txBody>
                  <a:tcPr anchor="ctr" marL="54864" marR="54864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333"/>
                          </a:solidFill>
                          <a:latin typeface="Microsoft YaHei"/>
                        </a:rPr>
                        <a:t>0.1840</a:t>
                      </a:r>
                    </a:p>
                  </a:txBody>
                  <a:tcPr anchor="ctr" marL="54864" marR="54864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333"/>
                          </a:solidFill>
                          <a:latin typeface="Microsoft YaHei"/>
                        </a:rPr>
                        <a:t>0.1026</a:t>
                      </a:r>
                    </a:p>
                  </a:txBody>
                  <a:tcPr anchor="ctr" marL="54864" marR="54864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333"/>
                          </a:solidFill>
                          <a:latin typeface="Microsoft YaHei"/>
                        </a:rPr>
                        <a:t>0.377</a:t>
                      </a:r>
                    </a:p>
                  </a:txBody>
                  <a:tcPr anchor="ctr" marL="54864" marR="54864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333"/>
                          </a:solidFill>
                          <a:latin typeface="Microsoft YaHei"/>
                        </a:rPr>
                        <a:t>0.969</a:t>
                      </a:r>
                    </a:p>
                  </a:txBody>
                  <a:tcPr anchor="ctr" marL="54864" marR="54864">
                    <a:solidFill>
                      <a:srgbClr val="EEF4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" y="3346704"/>
            <a:ext cx="5577840" cy="2798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recommend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3643006"/>
            <a:ext cx="5394960" cy="22054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10528" y="3346704"/>
            <a:ext cx="5157216" cy="2798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3683799"/>
            <a:ext cx="4974336" cy="212387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BFF"/>
                </a:solidFill>
                <a:latin typeface="Microsoft YaHei"/>
              </a:rPr>
              <a:t>05 ·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工程质量：分层、可测、可复现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91056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1056"/>
            <a:ext cx="50292" cy="93268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71907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3 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13969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引擎 / 服务 / 表现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5284" y="1591056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5284" y="1591056"/>
            <a:ext cx="50292" cy="93268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6452" y="171907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6 视图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6452" y="213969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单页应用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591056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591056"/>
            <a:ext cx="50292" cy="93268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71907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13 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13969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REST 契约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9116" y="1591056"/>
            <a:ext cx="261061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9116" y="1591056"/>
            <a:ext cx="50292" cy="93268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0284" y="1719072"/>
            <a:ext cx="22997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B2333"/>
                </a:solidFill>
                <a:latin typeface="Microsoft YaHei"/>
              </a:rPr>
              <a:t>0 GPU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0284" y="2139696"/>
            <a:ext cx="22997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A94A6"/>
                </a:solidFill>
                <a:latin typeface="Microsoft YaHei"/>
              </a:rPr>
              <a:t>纯 CPU 秒级响应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2688336"/>
            <a:ext cx="5230368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6384" y="2688336"/>
            <a:ext cx="50292" cy="87782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28163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2F6BFF"/>
                </a:solidFill>
                <a:latin typeface="Microsoft YaHei"/>
              </a:rPr>
              <a:t>数据契约先行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108960"/>
            <a:ext cx="47914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schema.py + API.md 固定后才开工，四条线并行开发、集成零返工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2688336"/>
            <a:ext cx="5230368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18504" y="2688336"/>
            <a:ext cx="50292" cy="877824"/>
          </a:xfrm>
          <a:prstGeom prst="rect">
            <a:avLst/>
          </a:prstGeom>
          <a:solidFill>
            <a:srgbClr val="00C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28163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48C"/>
                </a:solidFill>
                <a:latin typeface="Microsoft YaHei"/>
              </a:rPr>
              <a:t>测试分层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6248" y="3108960"/>
            <a:ext cx="47914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契约层 / 算法层 / 接口层 / 评测层，pytest 一条命令全回归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" y="3712464"/>
            <a:ext cx="5230368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6384" y="3712464"/>
            <a:ext cx="50292" cy="877824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38404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7A45"/>
                </a:solidFill>
                <a:latin typeface="Microsoft YaHei"/>
              </a:rPr>
              <a:t>可复现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133088"/>
            <a:ext cx="47914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固定随机种子，数据集入库；二进制模型脚本一键重建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18504" y="3712464"/>
            <a:ext cx="5230368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18504" y="3712464"/>
            <a:ext cx="50292" cy="87782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38404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7C5CFF"/>
                </a:solidFill>
                <a:latin typeface="Microsoft YaHei"/>
              </a:rPr>
              <a:t>仓库规范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56248" y="4133088"/>
            <a:ext cx="47914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Microsoft YaHei"/>
              </a:rPr>
              <a:t>课题材料与产物分离、.gitignore 精确、提交信息规范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" y="4809744"/>
            <a:ext cx="1088136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2415" y="495604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B2333"/>
                </a:solidFill>
                <a:latin typeface="Microsoft YaHei"/>
              </a:rPr>
              <a:t>运行方式（评审可一键复现）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5" y="5248656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python -m pip install -r requirements.txt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python -m uvicorn app.main:app --port 8000     →   浏览器打开 http://127.0.0.1:8000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91440" cy="47548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7548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BFF"/>
                </a:solidFill>
                <a:latin typeface="Microsoft YaHei"/>
              </a:rPr>
              <a:t>06 ·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74980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B2333"/>
                </a:solidFill>
                <a:latin typeface="Microsoft YaHei"/>
              </a:rPr>
              <a:t>总结：把「个性化学习」翻译成可计算的问题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645920"/>
            <a:ext cx="530352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5" y="1847088"/>
            <a:ext cx="4791456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完成了什么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8 条实现要求全部落地，额外实现协同过滤 / 可解释推荐 / 离线评测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2F6BFF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最大的收获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学会从需求出发做技术选型：★☆难度选对路线比堆模型更重要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理解多目标优化「先求集、再选点」的两段式思路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64224" y="1645920"/>
            <a:ext cx="530352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0256" y="1847088"/>
            <a:ext cx="4791456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FF7A45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不足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数据集为合成数据，结论可推广性待真实平台验证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掌握度用 BKT-lite，未建模知识点之间的耦合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1187" b="1">
                <a:solidFill>
                  <a:srgbClr val="FF7A45"/>
                </a:solidFill>
                <a:latin typeface="Microsoft YaHei"/>
              </a:rPr>
              <a:t>▪  </a:t>
            </a:r>
            <a:r>
              <a:rPr sz="1250">
                <a:solidFill>
                  <a:srgbClr val="1B2333"/>
                </a:solidFill>
                <a:latin typeface="Microsoft YaHei"/>
              </a:rPr>
              <a:t>下一步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引入 GCN 知识图谱嵌入替代独立 BKT 假设</a:t>
            </a:r>
          </a:p>
          <a:p>
            <a:pPr>
              <a:lnSpc>
                <a:spcPct val="134000"/>
              </a:lnSpc>
              <a:spcAft>
                <a:spcPts val="720"/>
              </a:spcAft>
            </a:pPr>
            <a:r>
              <a:rPr sz="900" b="1">
                <a:solidFill>
                  <a:srgbClr val="8A94A6"/>
                </a:solidFill>
                <a:latin typeface="Microsoft YaHei"/>
              </a:rPr>
              <a:t>   ·  </a:t>
            </a:r>
            <a:r>
              <a:rPr sz="1100">
                <a:solidFill>
                  <a:srgbClr val="5A6472"/>
                </a:solidFill>
                <a:latin typeface="Microsoft YaHei"/>
              </a:rPr>
              <a:t>把社交从「匹配」推进到「协作」，并做线上 A/B 验证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5614416"/>
            <a:ext cx="1088136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270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5742432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BFF"/>
                </a:solidFill>
                <a:latin typeface="Microsoft YaHei"/>
              </a:rPr>
              <a:t>一句话总结：推荐不是「猜你喜欢」，而是在知识图谱约束下，为特定目标找到一条「走得通、学得动」的路。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72784"/>
            <a:ext cx="10881360" cy="9525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63642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LearnPath · 智学路径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364224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Microsoft YaHe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0"/>
          </a:xfrm>
          <a:prstGeom prst="rect">
            <a:avLst/>
          </a:prstGeom>
          <a:solidFill>
            <a:srgbClr val="0E1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0784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谢谢，请老师批评指正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15184"/>
            <a:ext cx="103327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3CCDD"/>
                </a:solidFill>
                <a:latin typeface="Microsoft YaHei"/>
              </a:rPr>
              <a:t>LearnPath · 智学路径 —— 在线学习的个性化课程推荐实现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1012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0C48C"/>
                </a:solidFill>
                <a:latin typeface="Microsoft YaHei"/>
              </a:rPr>
              <a:t>github.com/ZK-1223/Implementation_of_Personalized_Course_Recommendations_for_Online_Learning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工程源码 · 数据集 · 接口契约 · 图表脚本均已在仓库中，可一键复现全部结果。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